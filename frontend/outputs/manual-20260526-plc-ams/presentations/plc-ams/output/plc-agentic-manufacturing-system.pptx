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13802a77214ab4" /><Relationship Type="http://schemas.openxmlformats.org/officeDocument/2006/relationships/extended-properties" Target="/docProps/app.xml" Id="R2dd223e350c44aa0" /><Relationship Type="http://schemas.openxmlformats.org/officeDocument/2006/relationships/officeDocument" Target="/ppt/presentation.xml" Id="R879c3a2e5ffc4a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69190272049ad"/>
  </p:sldMasterIdLst>
  <p:notesMasterIdLst>
    <p:notesMasterId xmlns:r="http://schemas.openxmlformats.org/officeDocument/2006/relationships" r:id="R30f118ca35c746c9"/>
  </p:notesMasterIdLst>
  <p:sldIdLst>
    <p:sldId xmlns:r="http://schemas.openxmlformats.org/officeDocument/2006/relationships" id="256" r:id="Rbeaf5983462947fc"/>
    <p:sldId xmlns:r="http://schemas.openxmlformats.org/officeDocument/2006/relationships" id="257" r:id="Rea234805b3cc4a3c"/>
    <p:sldId xmlns:r="http://schemas.openxmlformats.org/officeDocument/2006/relationships" id="258" r:id="Ra42acc9ddc164668"/>
    <p:sldId xmlns:r="http://schemas.openxmlformats.org/officeDocument/2006/relationships" id="259" r:id="Rca5db97a845144a8"/>
    <p:sldId xmlns:r="http://schemas.openxmlformats.org/officeDocument/2006/relationships" id="260" r:id="R939af8a8222647e6"/>
    <p:sldId xmlns:r="http://schemas.openxmlformats.org/officeDocument/2006/relationships" id="261" r:id="R66113010d515411a"/>
    <p:sldId xmlns:r="http://schemas.openxmlformats.org/officeDocument/2006/relationships" id="262" r:id="R535f5dbdc8314927"/>
    <p:sldId xmlns:r="http://schemas.openxmlformats.org/officeDocument/2006/relationships" id="263" r:id="R2d9db87f07eb4dfb"/>
    <p:sldId xmlns:r="http://schemas.openxmlformats.org/officeDocument/2006/relationships" id="264" r:id="Rda3f803e7b064210"/>
    <p:sldId xmlns:r="http://schemas.openxmlformats.org/officeDocument/2006/relationships" id="265" r:id="R21048427d31746bf"/>
    <p:sldId xmlns:r="http://schemas.openxmlformats.org/officeDocument/2006/relationships" id="266" r:id="Rd45812ed1d4d4db2"/>
    <p:sldId xmlns:r="http://schemas.openxmlformats.org/officeDocument/2006/relationships" id="267" r:id="R7fc147ea729e4e54"/>
    <p:sldId xmlns:r="http://schemas.openxmlformats.org/officeDocument/2006/relationships" id="268" r:id="R17a83f3cb4684b8c"/>
    <p:sldId xmlns:r="http://schemas.openxmlformats.org/officeDocument/2006/relationships" id="269" r:id="Ra1928233fc1047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69190272049ad" /><Relationship Type="http://schemas.openxmlformats.org/officeDocument/2006/relationships/theme" Target="/ppt/theme/theme1.xml" Id="R22c081047d954b17" /><Relationship Type="http://schemas.openxmlformats.org/officeDocument/2006/relationships/notesMaster" Target="/ppt/notesMasters/notesMaster1.xml" Id="R30f118ca35c746c9" /><Relationship Type="http://schemas.openxmlformats.org/officeDocument/2006/relationships/presProps" Target="/ppt/presProps.xml" Id="Rb37a627985f24d2f" /><Relationship Type="http://schemas.openxmlformats.org/officeDocument/2006/relationships/viewProps" Target="/ppt/viewProps.xml" Id="Rafe4739922214fc6" /><Relationship Type="http://schemas.openxmlformats.org/officeDocument/2006/relationships/tableStyles" Target="/ppt/tableStyles.xml" Id="R03260ee9097e4dc5" /><Relationship Type="http://schemas.openxmlformats.org/officeDocument/2006/relationships/slide" Target="/ppt/slides/slide1.xml" Id="Rbeaf5983462947fc" /><Relationship Type="http://schemas.openxmlformats.org/officeDocument/2006/relationships/slide" Target="/ppt/slides/slide2.xml" Id="Rea234805b3cc4a3c" /><Relationship Type="http://schemas.openxmlformats.org/officeDocument/2006/relationships/slide" Target="/ppt/slides/slide3.xml" Id="Ra42acc9ddc164668" /><Relationship Type="http://schemas.openxmlformats.org/officeDocument/2006/relationships/slide" Target="/ppt/slides/slide4.xml" Id="Rca5db97a845144a8" /><Relationship Type="http://schemas.openxmlformats.org/officeDocument/2006/relationships/slide" Target="/ppt/slides/slide5.xml" Id="R939af8a8222647e6" /><Relationship Type="http://schemas.openxmlformats.org/officeDocument/2006/relationships/slide" Target="/ppt/slides/slide6.xml" Id="R66113010d515411a" /><Relationship Type="http://schemas.openxmlformats.org/officeDocument/2006/relationships/slide" Target="/ppt/slides/slide7.xml" Id="R535f5dbdc8314927" /><Relationship Type="http://schemas.openxmlformats.org/officeDocument/2006/relationships/slide" Target="/ppt/slides/slide8.xml" Id="R2d9db87f07eb4dfb" /><Relationship Type="http://schemas.openxmlformats.org/officeDocument/2006/relationships/slide" Target="/ppt/slides/slide9.xml" Id="Rda3f803e7b064210" /><Relationship Type="http://schemas.openxmlformats.org/officeDocument/2006/relationships/slide" Target="/ppt/slides/slide10.xml" Id="R21048427d31746bf" /><Relationship Type="http://schemas.openxmlformats.org/officeDocument/2006/relationships/slide" Target="/ppt/slides/slide11.xml" Id="Rd45812ed1d4d4db2" /><Relationship Type="http://schemas.openxmlformats.org/officeDocument/2006/relationships/slide" Target="/ppt/slides/slide12.xml" Id="R7fc147ea729e4e54" /><Relationship Type="http://schemas.openxmlformats.org/officeDocument/2006/relationships/slide" Target="/ppt/slides/slide13.xml" Id="R17a83f3cb4684b8c" /><Relationship Type="http://schemas.openxmlformats.org/officeDocument/2006/relationships/slide" Target="/ppt/slides/slide14.xml" Id="Ra1928233fc1047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827809c22c440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0c2e2340944a3e" /><Relationship Type="http://schemas.openxmlformats.org/officeDocument/2006/relationships/notesMaster" Target="/ppt/notesMasters/notesMaster1.xml" Id="R9197d20553714a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2267369aef477d" /><Relationship Type="http://schemas.openxmlformats.org/officeDocument/2006/relationships/notesMaster" Target="/ppt/notesMasters/notesMaster1.xml" Id="R8de2f58747604e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d6ed11ec194bf3" /><Relationship Type="http://schemas.openxmlformats.org/officeDocument/2006/relationships/notesMaster" Target="/ppt/notesMasters/notesMaster1.xml" Id="Rd7ee83f52fa44d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874691f78b4bb5" /><Relationship Type="http://schemas.openxmlformats.org/officeDocument/2006/relationships/notesMaster" Target="/ppt/notesMasters/notesMaster1.xml" Id="R812adea6953348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b98e0118014c24" /><Relationship Type="http://schemas.openxmlformats.org/officeDocument/2006/relationships/notesMaster" Target="/ppt/notesMasters/notesMaster1.xml" Id="R8cacc326fc0d4f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3625a0664441e3" /><Relationship Type="http://schemas.openxmlformats.org/officeDocument/2006/relationships/notesMaster" Target="/ppt/notesMasters/notesMaster1.xml" Id="R22d4638441b942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8efdcb780844c3" /><Relationship Type="http://schemas.openxmlformats.org/officeDocument/2006/relationships/notesMaster" Target="/ppt/notesMasters/notesMaster1.xml" Id="Rd8028c306dee49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95d5f74ae14355" /><Relationship Type="http://schemas.openxmlformats.org/officeDocument/2006/relationships/notesMaster" Target="/ppt/notesMasters/notesMaster1.xml" Id="Rfff6281bc2914e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42c094d027456a" /><Relationship Type="http://schemas.openxmlformats.org/officeDocument/2006/relationships/notesMaster" Target="/ppt/notesMasters/notesMaster1.xml" Id="Rda6ab6ea6b5946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f29d0162cd4ac1" /><Relationship Type="http://schemas.openxmlformats.org/officeDocument/2006/relationships/notesMaster" Target="/ppt/notesMasters/notesMaster1.xml" Id="R2b2db938840540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f2fcd1081d40fb" /><Relationship Type="http://schemas.openxmlformats.org/officeDocument/2006/relationships/notesMaster" Target="/ppt/notesMasters/notesMaster1.xml" Id="R01c11848854642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25f4a6d8174a93" /><Relationship Type="http://schemas.openxmlformats.org/officeDocument/2006/relationships/notesMaster" Target="/ppt/notesMasters/notesMaster1.xml" Id="R8c4ae9cbe6b24a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acb028a47b4d58" /><Relationship Type="http://schemas.openxmlformats.org/officeDocument/2006/relationships/notesMaster" Target="/ppt/notesMasters/notesMaster1.xml" Id="R857a5c43989c41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0a3e6c34f345eb" /><Relationship Type="http://schemas.openxmlformats.org/officeDocument/2006/relationships/notesMaster" Target="/ppt/notesMasters/notesMaster1.xml" Id="R83e53be9d7e644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各位業界先進、各位朋友，大家下午好。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今天，我想跟大家聊聊製造業的未來。過去幾十年來，資訊工業策進會一直在思考一個問題：當自動化已經走到極致，台灣製造業的下一個生產力突破點，究竟在哪裡？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我們提出了 Agentic Manufacturing System，也就是「PLC 代理型製造系統」。這不是一個單純的資訊升級，而是一場重新定義自動化邊界的變革。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在過去，大家談到 AI Agents、談到生成式 AI 的願景，往往聚焦在辦公室裡的「數位員工（Digital Worker）」，幫忙寫寫 Email、整理報表。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但我們認為，製造業真正的價值在現場、在機台。因此，資策會 AI 研究院今天帶來的全新願景，是要跨越虛擬的辦公桌，走入工廠底層——我們要把 AI 打造為能夠直接理解機器語言的「數位機電專家」。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當我們把目光投向真實的工業現場時，我們會發現一個殘酷的現實：當前的自動化，完全缺乏對現場的「語意理解」。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大家眼前的這些 PLC 控制櫃，二十年前是這樣運作，今天依然是這樣運作。傳統的 PLC 只能嚴格執行預先寫死的固定邏輯與開關程序。當現場發生未預期的極端擾動，或者硬體老化、感測器飄移時，系統完全沒有自我推論的能力。它只會跳出一個冷冰冰的錯誤代碼，然後產線停擺，所有人只能坐在那裡，等待工程師到場查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這就是為什麼，台灣製造業在導入 AI 時，會遇到這「三大斷裂」：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第一，系統斷裂：OT 現場的暫存器訊號、IT 的營運系統與 AI 智能，三者互不相通。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第二，知識斷裂：工廠最核心的控制邏輯與除錯智慧，全部深埋在 proprietary 的階梯圖與老師傅的腦袋裡。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第三，信任斷裂：大模型難免會 hallucinate（幻覺）。如果我們直接讓 AI 擁有機台的寫入與控制權，萬一發生未授權操作或指令失準，撞機了怎麼辦？這讓現場的稽核與品管完全無法接受。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這三大斷裂，就是我們不敢將 AI 導入關鍵控制流程的核心原因。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為了解決這個問題，資策會規劃了這套「邊緣端技術架構」。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我們的核心邏輯是：將大腦直接部署在生產線旁。我們整合了具備 40+ TOPS 算力的工業 AIPC 硬體，在廠區內網部署專屬、私有化的微型語言模型（sLLM）。透過這個完全斷網、極致安全的本地環境，直接向下對接 PLC 的即時暫存器資料，向上延伸出多個專責的應用 Agents。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在這個架構中，真正發揮作用的靈魂，是我們量身打造的三大核心 AI 代理。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他們的任務非常明確：打破孤島、解構邏輯，並且堅守安全邊界。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首先登場的是 Connection Agent（連接代理）。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 PLC 的資料都是進制或暫存器代碼，AI 根本看不懂。我們的連接代理率先導入了微軟與 Anthropic 推動的 MCP (Model Context Protocol) 標準接口協議。它就像是工業 AI 界的 USB-C，能把低階的點位數據（例如 D100），即時轉譯為大模型可以理解的物理語意物件。這讓異質系統能即插即用，實現無損串接。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接著是 Knowledge Agent（知識代理）。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這是我們最驕傲的技術。它不僅僅是讀取 PDF 說明書，它還能「直接看懂階梯圖（Ladder Diagram）」。它會解構 PLC 的控制代碼與連鎖邏輯（Interlock），將工程代碼與維修紀錄、大師傅的經驗融合，建構出專屬該機台的「工業知識圖譜」。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現在，機器鬧脾氣的原因，AI 能幫你直接推導出來。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但最關鍵的防線，是 Trust Agent（信任代理）。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我們非常清楚，在 physical 的工廠裡，安全是唯一的底線。Trust Agent 建立了動態的安全護欄（Guardrail）：任何對 PLC 暫存器的修改指令，都絕對禁止 AI 盲目執行。我們會在虛擬的數位孿生環境中先跑一次動態模擬壓測；並且堅持 Human-in-the-Loop（人機協作）——每一次參數建議，都必須由現場工程師在螢幕上實體點擊確認，才會真正寫入硬體。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這套系統不是理論。我們在台塑麥寮維修中心，進行了真正的場域驗證。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請大家想像一個真實發生的現場情境：2026 年 3 月 24 日早上 9 點 14 分，一具攸關丙烯品質監控的出口水份分析儀，PLC 暫存器點位突然飆出了一個極端數字：138.6°C。這嚴重超出了正常運作的上限。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在傳統工廠，這時候就是混亂的開始。但在 AMS 系統下，奇蹟發生了：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在第 1 秒，連接代理捕捉到高溫訊號，立即通報大腦；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在第 5 秒，知識代理啟動，自動翻閱該設備的 PLC 階梯圖，發現有防撞防爆的連鎖跳機邏輯；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在第 10 秒，分析代理結合過往保養紀錄與操作手冊，精準鐵嘴診斷：冷卻閥門的繼電器燒毀；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在第 15 秒，信任代理將所有可追溯的診斷證據包裝好，在螢幕上跳出警告，並貼心地產出好派工單，詢問工程師：「是否通知機電組帶備品更換？」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這帶來了多大的改變？請看這組數據。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過去，這整套找問題、翻手冊、判定原因的傳統流程，平均要花上 45 分鐘。現在，AMS 代理平行協作，縮短到只要 2 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傳統工廠憑經驗的根因診斷準確率大約 65%。現在，結合了階梯圖與知識圖譜的智慧診斷，準確率直逼 98%。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這不只是效率的提升，這是 22 倍應變速度的飛躍。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我們對 PLC-AMS 的規劃，是一條清晰的自主化藍圖：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從現在 L1 的實時監控、L2 的智慧根因診斷，我們正在邁向 L3 的安全人機協作調參。而我們的終極目標，是在信任代理守護的邊界內，實現 L4 的「自主控制與設備自癒」——讓未來的工廠，自己具備思考與修復的能力。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資策會 AI 研究院期盼能以台塑的典範案例為核心，攜手國內的顧問業、系統整合商與硬體夥伴，將這個模式複製到半導體、電子與紡織民生工業，共同構建台灣製造業的 AI 代理生態圈。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從今天起，讓我們一起，翻轉邊緣自動化的未來。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謝謝大家！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5c4980c924e1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3b2a6dd09a64f40" /><Relationship Type="http://schemas.openxmlformats.org/officeDocument/2006/relationships/slideLayout" Target="/ppt/slideLayouts/slideLayout2.xml" Id="R95629d3382ff41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629d3382ff41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09168ec91443ec" /><Relationship Type="http://schemas.openxmlformats.org/officeDocument/2006/relationships/notesSlide" Target="/ppt/notesSlides/notesSlide1.xml" Id="Reaf7886fd6684d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ae6ba04095468a" /><Relationship Type="http://schemas.openxmlformats.org/officeDocument/2006/relationships/notesSlide" Target="/ppt/notesSlides/notesSlide2.xml" Id="R6cd7b0fe68ae40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135e2bef734423" /><Relationship Type="http://schemas.openxmlformats.org/officeDocument/2006/relationships/notesSlide" Target="/ppt/notesSlides/notesSlide3.xml" Id="R7b356e64593042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d86e17a3b4818" /><Relationship Type="http://schemas.openxmlformats.org/officeDocument/2006/relationships/notesSlide" Target="/ppt/notesSlides/notesSlide4.xml" Id="R9074504dc7a649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6806f8e5734666" /><Relationship Type="http://schemas.openxmlformats.org/officeDocument/2006/relationships/notesSlide" Target="/ppt/notesSlides/notesSlide5.xml" Id="R2696c83bac2d4b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9653c4ee744143" /><Relationship Type="http://schemas.openxmlformats.org/officeDocument/2006/relationships/notesSlide" Target="/ppt/notesSlides/notesSlide6.xml" Id="Rc1c2a008fc4b4a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f72010a3cc4190" /><Relationship Type="http://schemas.openxmlformats.org/officeDocument/2006/relationships/notesSlide" Target="/ppt/notesSlides/notesSlide7.xml" Id="Rcbeaf9e3d38543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6884ab5ea64915" /><Relationship Type="http://schemas.openxmlformats.org/officeDocument/2006/relationships/notesSlide" Target="/ppt/notesSlides/notesSlide8.xml" Id="R7f1ff44646ee41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f4f8fc447242ee" /><Relationship Type="http://schemas.openxmlformats.org/officeDocument/2006/relationships/notesSlide" Target="/ppt/notesSlides/notesSlide9.xml" Id="R70fb6eb50f734c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8493855864e75" /><Relationship Type="http://schemas.openxmlformats.org/officeDocument/2006/relationships/notesSlide" Target="/ppt/notesSlides/notesSlide10.xml" Id="R868f8ad7668a40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bd9e701f9c4094" /><Relationship Type="http://schemas.openxmlformats.org/officeDocument/2006/relationships/notesSlide" Target="/ppt/notesSlides/notesSlide11.xml" Id="R58e7568ba57d46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fdca5e2bb34328" /><Relationship Type="http://schemas.openxmlformats.org/officeDocument/2006/relationships/notesSlide" Target="/ppt/notesSlides/notesSlide12.xml" Id="R54daa7f59f4f4c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d834e6e1744284" /><Relationship Type="http://schemas.openxmlformats.org/officeDocument/2006/relationships/notesSlide" Target="/ppt/notesSlides/notesSlide13.xml" Id="R8d6360af36fa47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c3a72c1d8f45b0" /><Relationship Type="http://schemas.openxmlformats.org/officeDocument/2006/relationships/notesSlide" Target="/ppt/notesSlides/notesSlide14.xml" Id="Rc8b625dd4f9c414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C7CF9E-6636-4A9C-8639-4424D160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C98C6-5353-432C-921D-A16BE065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DF132-BCD5-4A1C-A4B7-1C10236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9840D-E8AD-403D-8876-97F9058C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DD05A-15AF-4ECB-B409-77518704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0A4B5-C01C-4ACB-BE9F-285EF6C5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BC4E6-EF1C-46B2-88B4-9F21D2D4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E7350-D678-4CDE-9D2E-A81F0FF2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F335C-04EC-4B5C-B6B2-B1D92111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FB4E1-719B-4EFC-B236-BB59CC2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83DB0-4C7A-459A-8830-C5EFDB06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84569-F9FF-464C-92B8-3EF41D72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CC91D-F4C6-4C51-B02D-D1CA9C56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6EBC3-5E34-4917-B493-93776C15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3404D-AE80-4A80-9EE3-889C58A5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3EA48-F121-46E7-8479-6AC1352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A7145-5167-4F10-B836-D98A4E83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28700"/>
            <a:ext cx="4572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11430">
            <a:solidFill>
              <a:srgbClr val="233447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969AE-32CE-40F9-9FA5-868345B2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19200"/>
            <a:ext cx="4191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4253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9327F-9E2C-4F3F-A31F-3B5C3CE2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0375"/>
            <a:ext cx="377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這裡放：極簡黑底工業控制櫃或自動化產線</a:t>
            </a:r>
          </a:p>
        </p:txBody>
      </p:sp>
      <p:sp>
        <p:nvSpPr>
          <p:cNvPr id="2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89FCEA7-DDF0-4B5E-B4DB-52D5AC13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566B30-C9D6-4426-9979-BC2C28DA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AGENTIC MANUFACTURING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6F386-195A-4187-B0F6-0A72F21E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334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PLC 代理型</a:t>
            </a:r>
          </a:p>
          <a:p xmlns:a="http://schemas.openxmlformats.org/drawingml/2006/main">
            <a:pPr algn="l">
              <a:defRPr sz="4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製造系統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E6C4C-E9CE-49B3-A38E-73CAD3C6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把 AI 大腦部署在生產線旁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CFD7A-DC5C-478E-AEAC-259AC8B8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140FA-F854-4338-8B27-8814EAF9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25979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F4B8F-6859-4753-9E3E-7749CB74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9AAB4-7F66-4299-8F28-78560A13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D6F24-28BA-410C-930B-D5EE1C48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4834E-A445-45BC-A6EE-802CDF9B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09BE5-F2A6-4A4C-8DD7-668E94D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9BDBB-8AE5-4A27-BB93-78F12C46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F32C8-36B0-41CE-B6CA-0DA6D0A2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F5195-9AF6-443E-8890-97D53AE0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745DD-419C-42EB-B77F-EC812480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77A74-EA66-4E54-BA42-66263C0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3D946-2722-4FCE-A313-DF94BABA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B0717-6B82-4312-8E56-CB9F4181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8D975-70F0-4BD9-AF44-7015009A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A6565-F688-4A43-A595-569E6490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803DB-1BA1-423A-B0F6-483EB777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D9AC4-A0AA-4B2D-8747-84EA9E22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68A89C0-D66B-441F-B88D-02A1E2C5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BF197E6-C983-43BE-A8E5-BAA0704D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A747C-3E2B-4EBB-809A-637FDCB3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9334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8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從數位員工，</a:t>
            </a:r>
          </a:p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8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到數位機電專家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CF4EF-7A64-4C43-884B-DAB09DAA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AI 的下一個工作場域，不在辦公桌，而在機台旁。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54588-30A5-4591-8B58-F0462DEE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9233">
            <a:off x="2000250" y="5324475"/>
            <a:ext cx="64072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9B113-B509-4DD0-A155-FF61C3EE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9233">
            <a:off x="2857500" y="5324475"/>
            <a:ext cx="64072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73D72-512E-45F3-8C9F-1903E79F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9233">
            <a:off x="3714750" y="5324475"/>
            <a:ext cx="64072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87A19-AD9F-4814-ACDD-EC447ECC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9233">
            <a:off x="4572000" y="5324475"/>
            <a:ext cx="64072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444E3-38DC-403B-865B-1E2D4B0B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9233">
            <a:off x="5429250" y="5324475"/>
            <a:ext cx="64072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78D9E-2508-4800-A666-2F9E18CF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9233">
            <a:off x="6286500" y="5324475"/>
            <a:ext cx="64072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D41DED-71B9-443C-89E1-9611AEC0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9233">
            <a:off x="7143750" y="5324475"/>
            <a:ext cx="64072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5FF23-B471-46E9-9061-909261D3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36543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68FF71-BA16-4DE6-9869-484CCB9E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63D7F-6177-48E2-8985-88BB53BC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2F1B7-9417-4D60-AD50-9E8B2CDB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567C9-ADA1-4024-ACDB-3122FE4B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63394-28A5-4B8C-B2CC-8554BB18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B842F-8100-4F77-AB26-56DDB8B8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20DAD-64BE-4AEF-B815-03B025E6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3BD02-825B-4801-9328-40B66F5D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38161-917B-4D14-9824-A0974876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9E2AA-F24D-47BC-8871-0CCAA950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47943-D892-414D-A072-BA948897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11AE6-2C3D-436E-9F48-B4DAC039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4160F-6BC8-4954-A979-FFFDBA1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9AB3E-2EC1-4026-825E-22E6A344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DBE4A-29C0-48A8-B7E0-57E0139F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1C633-7151-4111-86E6-CD5A1CD8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0D05B-5DC8-4B47-B6EC-E4AFD05A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14400"/>
            <a:ext cx="45720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11430">
            <a:solidFill>
              <a:srgbClr val="233447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DB484-7BC0-4F9B-A942-31B13A3C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1910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4253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0D970-FA62-4630-9666-276A14F6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90850"/>
            <a:ext cx="377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這裡放：PLC 控制櫃近景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0739E-18F0-4CBC-9773-A6750DBC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56197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055752-346D-4B50-B50C-96A2717F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097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5E6374-27A3-48FF-A353-D4D1FBD8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144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REALITY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7A8EA-F467-42E3-9031-465E4B18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5740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0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自動化，</a:t>
            </a:r>
          </a:p>
          <a:p xmlns:a="http://schemas.openxmlformats.org/drawingml/2006/main">
            <a:pPr algn="l">
              <a:defRPr sz="40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0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仍然不理解現場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2BE5A-8511-4228-B8AF-13BE16A0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錯誤代碼出現後，產線只能等待工程師查線。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F24BE-0F2E-418F-B30C-01D42803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19988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CDB20-E111-44DD-AB55-83D2B305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D097B-2C3B-4263-B51B-B51DC70B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22970-4DD1-4BFC-B537-5887B7AE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63F95-093D-421F-84B2-9C493215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11CB6-FB4F-40E2-A973-1DADAB28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23438-F855-40B0-BB80-0F697B41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9A180-A3F1-4C69-8B59-A6868CA6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60987-D7FD-443F-85AE-1B135ABA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32EA1-A065-4FAA-AE1D-055603E0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5E52B-8985-4C72-BD46-BC6225F5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7C41E-8CA1-41C5-9534-9343B75B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5BF06-7E43-4D31-AFCB-A6B540A2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60883-55CC-4402-A55D-BBC92870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0D7D5-9438-44C0-89E7-85631753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D81DC-AA00-40DD-B1A7-C7A4C83B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33C1F-1707-4A9C-8C51-BFEFD02A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3AC5365-4241-48F3-B910-8F545B56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308B3A-4682-41F6-A790-1C769601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THREE BREAKS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F8126-164D-41F3-BAE6-C5398DD2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858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0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三大斷裂，擋住 AI 進入關鍵控制流程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F89AA-2292-4C19-9066-54723B6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5986F-C642-43DF-85B8-C2869DBC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438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3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系統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694F4-3866-4E66-80D4-93F8F2E9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438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OT、IT 與 AI</a:t>
            </a:r>
          </a:p>
          <a:p xmlns:a="http://schemas.openxmlformats.org/drawingml/2006/main">
            <a:pPr algn="ctr">
              <a:def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互不相通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7399C-8F63-4086-B65F-022B2ED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28900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CC902-C8D8-42FE-A789-FC6FC8B7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90850"/>
            <a:ext cx="2438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3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知識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6C4F2-E233-4242-9B98-F0C7D5F5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2438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階梯圖與經驗</a:t>
            </a:r>
          </a:p>
          <a:p xmlns:a="http://schemas.openxmlformats.org/drawingml/2006/main">
            <a:pPr algn="ctr">
              <a:def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深埋現場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2BA38E-FFF7-44DD-8F8B-894546B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95962-4CBD-447C-ABCE-A7A00ECE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2438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3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信任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4045BC-FD53-41BE-9C6C-312F15EF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2438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幻覺與未授權操作</a:t>
            </a:r>
          </a:p>
          <a:p xmlns:a="http://schemas.openxmlformats.org/drawingml/2006/main">
            <a:pPr algn="ctr">
              <a:def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無法稽核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4549BF-45E1-4224-ABA3-DB1FD2AA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07063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2DBC6-5079-42E9-9714-08FD042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B4C34-C65E-41FE-AF23-024E4096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86E08-4EA0-4FB8-9330-9F31BB2F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E7B31-2E00-462D-82EB-3FAE806D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9FF21-CAE7-4EB0-A2E2-D94AF7D7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60DC5-6378-46C1-ABDF-29B49133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36FA6-F779-45AC-ADDE-E137A035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40781-FA1B-4340-BD56-20456907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2F33E-7F02-4E1C-9EF0-971E1B22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447BE-B28D-40EA-9797-5DA00AC1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2C94A-6408-41EE-B117-F7F3A615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69468-766B-4FD2-AAC4-85F77DBE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F785C-119E-4B37-BE93-B9D66308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A9371-A880-4EDA-949D-86AE2A0D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39CD5-854B-4743-B089-AAC661D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0C316-6EAB-4ADC-AD17-F9811703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8577A9-3EDF-4E72-906F-381322D9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A96F280-2DF1-4685-BD93-86DA0C81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EDGE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7BB96-6583-4AC2-ADA8-49ABC1EA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0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將大腦直接部署在生產線旁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4F2D8-CE71-453B-862B-ACC4B038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003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B"/>
          </a:solidFill>
          <a:ln xmlns:a="http://schemas.openxmlformats.org/drawingml/2006/main" w="9525">
            <a:solidFill>
              <a:srgbClr val="1D9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DF6F1-BE5B-4A04-9603-6564C6AD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146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工業 AIPC</a:t>
            </a:r>
          </a:p>
          <a:p xmlns:a="http://schemas.openxmlformats.org/drawingml/2006/main">
            <a:pPr algn="ctr">
              <a:defRPr sz="18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40+ TOPS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7A558-0127-4A64-A70E-5D447A66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64D2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FC74B4-B83D-428E-81B2-E41B7D6E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66900"/>
            <a:ext cx="3067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私有化 sLLM</a:t>
            </a:r>
          </a:p>
          <a:p xmlns:a="http://schemas.openxmlformats.org/drawingml/2006/main">
            <a:pPr algn="ctr">
              <a:defRPr sz="1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廠區內網 / 斷網部署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A1BD3-DC5C-42C8-8DE2-8B53E5A2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3860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A9704-B399-4FAC-84AB-52A2C278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52900"/>
            <a:ext cx="3067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PLC 即時暫存器</a:t>
            </a:r>
          </a:p>
          <a:p xmlns:a="http://schemas.openxmlformats.org/drawingml/2006/main">
            <a:pPr algn="ctr">
              <a:defRPr sz="1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D100 / M / X / 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F5BB3E-17D4-4996-9499-26545E86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1BA0B-BB71-4D49-AE14-F1ED27CB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43550"/>
            <a:ext cx="2495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425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Connection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3B06F-CF90-46EB-BCEA-F6BFCB85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42925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FD71F-CA47-4294-819B-CA327506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543550"/>
            <a:ext cx="2495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425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Knowledge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5F371-69A5-42F8-8BBB-FF1C95C2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2925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FFB23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661DD1-C16B-4BE1-8320-BEC2B1E8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43550"/>
            <a:ext cx="2495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B23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425" b="1">
                <a:solidFill>
                  <a:srgbClr val="FFB23F"/>
                </a:solidFill>
                <a:latin typeface="Microsoft JhengHei UI"/>
                <a:ea typeface="Microsoft JhengHei UI"/>
                <a:cs typeface="Microsoft JhengHei UI"/>
              </a:rPr>
              <a:t>Trust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9152F-1895-49F6-A891-A9965B8D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25336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1F2922-F49F-45EB-8C71-A00BDC6E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35814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BC38D0-6DD0-4BD5-85C8-A523172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8196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359294-C545-4BDD-A12B-09CBC20B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33975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36F23B-363F-4886-89D1-CDF6253C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43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B72B35-C057-43EB-A2AF-A039F9BA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143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BCC327-BA8D-4084-9565-FFFDF2A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43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F41F1A-CC66-4885-B775-0C158E0D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95858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002B7-1582-4831-A6E8-A2A6DB23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B77E5-0E61-4032-80FB-DD522AB5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5FF3A-1EF1-4E94-A154-76813F7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4E92C-E2C5-4198-9384-3A71F0EC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43F1F-F206-4E00-8A73-F4DF81D3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9FB1F-17B2-4176-9E69-C0B4B070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B54AB-CDA5-40D1-A7C8-DCA15B05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8D169-1F86-49AF-9CD8-093CA213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CFD20-9EE8-43DF-A0B7-E1614FC2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150A2-1E49-448B-8809-1C01F0F7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EB03D-BF12-485B-B13F-3C3EB7ED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A8116-7507-4BE1-B7D9-67BECFF0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06AF9-5BC1-4EF9-9006-1C9E206F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5ED5D-F83D-4CBA-927B-5CAABE11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0C603-9D74-470A-B5A9-AFD2C0C2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1BB66-0E4E-46BF-9CF9-2C2C580E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4A145E0-F7FC-4F11-8B7A-9FA684E6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66A0EF-24D1-4A76-8A75-8A67A331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THE CORE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F3F9C-B84E-428E-A88C-5F9D8347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38250"/>
            <a:ext cx="723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2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打破孤島。</a:t>
            </a:r>
          </a:p>
          <a:p xmlns:a="http://schemas.openxmlformats.org/drawingml/2006/main">
            <a:pPr algn="l">
              <a:defRPr sz="42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2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解構邏輯。</a:t>
            </a:r>
          </a:p>
          <a:p xmlns:a="http://schemas.openxmlformats.org/drawingml/2006/main">
            <a:pPr algn="l">
              <a:defRPr sz="42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2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堅守邊界。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54C71-72E3-4E26-8BC7-F2A1EB65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0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連接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AC1AC-53D6-442B-88D2-6332E995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340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88192-BD01-4C78-8C78-164AAFC6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0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知識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38090-2C5A-4495-8876-08D1BD9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340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92CCF-48F4-4002-B8F1-5E57E109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9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B23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050" b="1">
                <a:solidFill>
                  <a:srgbClr val="FFB23F"/>
                </a:solidFill>
                <a:latin typeface="Microsoft JhengHei UI"/>
                <a:ea typeface="Microsoft JhengHei UI"/>
                <a:cs typeface="Microsoft JhengHei UI"/>
              </a:rPr>
              <a:t>信任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8C0327-B918-4822-B291-D125EFB1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340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F7F51B-F98A-4DF6-9535-10B95B6A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65996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2A700F-74F0-4FDE-AF31-A1C4000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43EFE-5EA3-41B0-91C5-9294C926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F5AEF-0498-4E9B-B43B-2296AEB5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52D92-9E24-4F16-ADD8-3A7B7CAF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997DC-E573-4574-A656-83107FF9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90480-BAF7-4475-9FEA-931F8E57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93BC7-71ED-4439-9842-EFBBCAEE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32FEF-C710-4764-A892-37C74EA3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0CE5B-0A6C-482E-AF38-87CC154B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8AB0F-953B-448E-8420-92282D2A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18080-2D4B-46C7-9618-B6A8DF5F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187DE-2246-4882-A0A8-D9BB9C51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940B4-31AC-40B6-8DC2-4111F438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4E289-22F6-4CA0-81E3-0E6F7075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F71B4-0116-40F6-A5EB-F9931E01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0F0C1-2A7F-4D17-82F5-FB77BEC3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455214D-715F-4B86-8D03-53BFF6C5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B9533F-2BBD-4E5F-8B01-2C1D0D68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CONNECTION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A57BC-D1EE-481A-B585-035713FE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4775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0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把暫存器代碼，翻譯成物理語意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BFE21-3DD0-4215-AC2E-8EE06EA2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2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EEA25-BAAC-431B-9082-AF1CAC44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71800"/>
            <a:ext cx="2400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D100</a:t>
            </a:r>
          </a:p>
          <a:p xmlns:a="http://schemas.openxmlformats.org/drawingml/2006/main">
            <a:pPr algn="ctr">
              <a:defRPr sz="255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0x08FA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494CB-8870-48E8-A90D-C16D2D3D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71800"/>
            <a:ext cx="2571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B"/>
          </a:solidFill>
          <a:ln xmlns:a="http://schemas.openxmlformats.org/drawingml/2006/main" w="9525">
            <a:solidFill>
              <a:srgbClr val="1D9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D7CB1-A18D-48B3-A824-99A57C71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0861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1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MCP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1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標準接口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2D8242-486B-4C0E-AB46-1D66D619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64D2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35519-4657-4D21-8C25-B0D682E2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2400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出口溫度</a:t>
            </a:r>
          </a:p>
          <a:p xmlns:a="http://schemas.openxmlformats.org/drawingml/2006/main">
            <a:pPr algn="ctr">
              <a:defRPr sz="25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138.6°C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618AB-C064-4F14-B806-19193F9B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457575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68780-553B-4C34-8EB3-5BCE143B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457575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22F559-F2AB-4590-BD22-689E8287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577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MCP 是工業 AI 的標準接口層。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C6B8EB-B3F9-46EB-8EA0-FC405516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7129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51E32E-68A0-4A04-B253-D7DF791A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C4FE9-CF18-4DE0-B948-E9876289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565B9-663C-4219-A870-75B4B9E3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D1CB2-749E-43B1-A8D7-EBA2FA63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22F95-88B5-4014-A842-9A3EFAA1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1F7C6-15E6-4DAA-97A1-36CF0856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AE206-ED13-4D7C-A0D6-A574F9A6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C848E-8765-45C8-831F-782AFE26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4B1B1-426A-4481-9E10-C679549A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20121-1CF2-42AD-9782-BEDDCE63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DD19B-370E-4CD7-AFB5-2D34B33D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90F91-76D7-40CD-8605-51169361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AFB27-C003-4F8A-933A-033DE5B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3632F-CADE-4E93-9BFB-3A449BCF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877C6-1CD5-4F3B-8240-7251FC8A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4EDF1-B1C3-408D-907D-AD6675C2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41394F-F20C-4D33-9CFA-6D38D237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ED25A4-6E02-494B-8E34-70EB977F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KNOWLEDGE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B165E-8FCE-4647-9617-CF4E833B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4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讓 AI 看懂階梯圖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607A5-1ACE-4D4A-AA5E-B1F6C1CB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47750"/>
            <a:ext cx="4095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11430">
            <a:solidFill>
              <a:srgbClr val="233447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2DC85-BE65-41B0-90B9-2EF64624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38250"/>
            <a:ext cx="3714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425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31AA4-A3F7-45DD-9829-795B5D8A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81300"/>
            <a:ext cx="329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這裡放：階梯圖或工程圖畫面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8AC89-D265-46ED-99B3-11802A62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E1DFB-4D33-4299-9162-2B7021D3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193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階梯圖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EF595-E0CB-4925-A055-0DCCC45D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0B46D-9D48-48BF-A899-C372F4BD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維修紀錄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E7D524-E481-4611-B789-3946BE38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2BD78-A342-4F4A-8B32-5191FB2E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操作手冊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9E8D7-821C-47F6-B19F-9721F577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B"/>
          </a:solidFill>
          <a:ln xmlns:a="http://schemas.openxmlformats.org/drawingml/2006/main" w="9525">
            <a:solidFill>
              <a:srgbClr val="1D9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B07A10-EE2E-43BD-A4E3-58C52D2B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00400"/>
            <a:ext cx="1924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工業知識圖譜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598F8-C722-42DE-8C05-252A8319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6C901-D6B2-4249-AB9A-D27F1EC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27278">
            <a:off x="3505200" y="2571750"/>
            <a:ext cx="9307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3D9708-7D45-449B-83A1-6FA4C265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83554F-9547-4C9E-B4D6-114B44E2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42636">
            <a:off x="3505200" y="3486150"/>
            <a:ext cx="2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40BEA1-7B29-4789-B947-7EF09157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A2A620-0367-4CDD-ADC1-DB403F57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388496">
            <a:off x="3505200" y="4400550"/>
            <a:ext cx="98532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562526-B254-491B-9AA0-CDC187E9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575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1222E8-F690-4918-A0E7-361C64A2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67398">
            <a:off x="6477000" y="3457575"/>
            <a:ext cx="3435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702997-9A96-4694-B375-1C17E188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999550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C926F8-A0AF-4F43-B6D7-DD1BF266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A85F2-4467-44D6-AFED-1E223170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4C689-4DA9-421F-9B8B-F059103B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EC44F-19A1-4D36-9E1D-DDC2AA0B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684A9-05CD-438F-BB01-E4F1ED15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8745F-4499-4045-8126-CD2B3474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8A960-8911-4464-A90D-196B9668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74B2C-8036-42AA-AFED-A3823A99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E24B2-8F25-4E95-904F-51D96503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9CA32-ADBB-4B35-B5B2-7EC255D3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3A519-EABC-498A-8F95-1F1F2092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025DF-BE71-4D8F-93A6-FD5ED345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10C94-52A2-4A87-B98B-FDC0BAC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8A026-2476-43AF-8494-D8C718E5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94F22-CDDD-49F3-83B5-9B5852B3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54A31-3C30-4111-8DC3-EF9FB673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C43D386-11C0-4E22-A014-F25C278E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720443-9682-458B-A953-26B43E35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TRUST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1D7C0-191B-4923-9AC4-20761A8B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3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AI 不能盲目寫入硬體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66D39-4F56-4789-A977-8F0FD0A6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11430">
            <a:solidFill>
              <a:srgbClr val="233447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C774A-42AF-41CF-A790-DB471725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85900"/>
            <a:ext cx="3048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425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26D6C-983B-4AC0-92D8-78D095AC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2628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這裡放：工程師確認操作介面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CE54B-9C6A-4677-A7B1-FDD9AAB4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35102-06EE-4AEF-89B4-70DE36C6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768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AI 參數建議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E50A3-A0F0-421F-A81E-6E87066A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542448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CDFA93-4197-43DB-8207-BF721126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625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9AD9FB-50E2-42C2-8BE0-A8F7B5BC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768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數位孿生模擬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9298CE-7F5E-4BB4-A4BF-F0D508B4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542448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FDAA7-15F2-4398-84D7-A3099F10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625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F5516-10DA-4ABA-9300-31AB3F7F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768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工程師確認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7F17B7-0E94-41BE-90E5-E1FB6586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42448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8DF67B-14A1-4325-924B-8B56AB55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625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20B"/>
          </a:solidFill>
          <a:ln xmlns:a="http://schemas.openxmlformats.org/drawingml/2006/main" w="9525">
            <a:solidFill>
              <a:srgbClr val="FFB23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54A1F-D0FE-40F4-95E4-FB1DEE2B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768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23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FFB23F"/>
                </a:solidFill>
                <a:latin typeface="Microsoft JhengHei UI"/>
                <a:ea typeface="Microsoft JhengHei UI"/>
                <a:cs typeface="Microsoft JhengHei UI"/>
              </a:rPr>
              <a:t>寫入 PLC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F7AA96-DDAE-4AC8-89D2-8411E234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75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任何修改指令，都必須先通過護欄。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0E025F-C183-407F-AEFF-787AAC3A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8717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5EAEE7-2A55-40E1-91FC-D6F9D2FE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43F54-8151-424D-8C4B-6540F9E7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4D865-1FDF-457B-BE7F-BC44A6AF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10F17-7FD3-4AE0-9C63-5EF4A020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88983-3E23-4906-9EC0-D1C2B9DE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1A57D-7F63-4905-AFB1-23113432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A92C2-01E7-4055-B514-CDE77FA5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F5683-F413-4200-A619-C29259BB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2E267-AE3B-4F22-9476-CAF16D29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EEC9D-6C26-421D-926E-0A01293C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3FA59-44E3-438A-9C30-FEB69479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44C6A-185E-4B2A-8188-E6274429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8C225-A4F3-41E5-926A-808FFED5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1CF96-1B23-4FE4-A0F0-2F27DF7A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AFFBC-59E4-43CA-ABA6-CFB82D17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C0BAB-6D87-4AF9-8EE3-C48E5E8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D8C6AD4-3EB4-4F3E-B6F4-7C937E47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267BCF-0115-4F3E-B492-D3E869C7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FIELD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41C6C-1004-41F1-8D4E-2A17AD30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FFB23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0" b="1">
                <a:solidFill>
                  <a:srgbClr val="FFB23F"/>
                </a:solidFill>
                <a:latin typeface="Microsoft JhengHei UI"/>
                <a:ea typeface="Microsoft JhengHei UI"/>
                <a:cs typeface="Microsoft JhengHei UI"/>
              </a:rPr>
              <a:t>138.6°C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C66DC-5F9D-4947-83BB-53BFA529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75" b="0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2026.03.24 09:14</a:t>
            </a:r>
          </a:p>
          <a:p xmlns:a="http://schemas.openxmlformats.org/drawingml/2006/main">
            <a:pPr algn="l">
              <a:defRPr sz="1875" b="0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75" b="0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出口水份分析儀異常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6D567-63C7-44FB-A52F-FC4A3F68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049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0D05"/>
          </a:solidFill>
          <a:ln xmlns:a="http://schemas.openxmlformats.org/drawingml/2006/main" w="19050">
            <a:solidFill>
              <a:srgbClr val="FFB2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CA365-FC5E-4F31-AF43-44C1242E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1733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B23F"/>
                </a:solidFill>
                <a:latin typeface="Aptos Mono"/>
                <a:ea typeface="Aptos Mono"/>
                <a:cs typeface="Aptos Mono"/>
              </a:defRPr>
            </a:pPr>
            <a:r>
              <a:rPr sz="3000" b="1">
                <a:solidFill>
                  <a:srgbClr val="FFB23F"/>
                </a:solidFill>
                <a:latin typeface="Aptos Mono"/>
                <a:ea typeface="Aptos Mono"/>
                <a:cs typeface="Aptos Mono"/>
              </a:rPr>
              <a:t>ALERT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2155C-BAEA-405C-AC6D-43FCA340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4075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D664FD-9562-4C52-A980-A7BBB109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BEEC0-14C5-4032-B534-7B90A877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18B86-5C64-4D69-BCD8-A7F0C0B0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6016B-EAE4-4987-8753-6D44BEB3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D4D6D-B923-4238-B161-5BAE50FF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E6691-BEC4-4BA4-8F42-59FF49AA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3929F-4E6B-46D6-BD9C-0CE9737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5F199-FA74-4B2C-ADF4-08E17230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40B67-37E2-494B-851A-1D8A3832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6D790-78A3-46A9-8D82-E1CED9D0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9F4C0-91EE-4B0F-9B3C-57997C4D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D6C30-7E25-4FF6-9782-B77EA1F4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3DDBD-4B02-48EB-91DF-5B826DE0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F6FBE-D1C9-46A9-9AD1-5E30F087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27076-017C-4D51-A69D-78DC537E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EF917-BF78-428C-A77E-E9B6127B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0F426B6-6AE1-4788-8B5A-30ABFACB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A6DEF8-4FE8-48E5-BF5A-EB7CA9A9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PARALLEL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340A6-25AB-477A-BED4-1F178EA0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1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15 秒內，完成從訊號到派工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9D62D-5EC4-4479-9FE8-B20FE769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57575"/>
            <a:ext cx="762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F0B5A-DC31-4A6A-94B9-6BD71C9E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84A31-B4BC-4947-82E6-9872A0CA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325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1 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752A8-11A9-4101-B749-C349E5A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連接代理</a:t>
            </a:r>
          </a:p>
          <a:p xmlns:a="http://schemas.openxmlformats.org/drawingml/2006/main">
            <a:pPr algn="ctr">
              <a:def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捕捉高溫訊號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16CC3-F15C-4FFB-8956-940F85B2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09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683CE-DE28-4313-8007-6A557114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325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5 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120216-C133-4926-A8D9-374370F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知識代理</a:t>
            </a:r>
          </a:p>
          <a:p xmlns:a="http://schemas.openxmlformats.org/drawingml/2006/main">
            <a:pPr algn="ctr">
              <a:def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讀取階梯圖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1DF4A-E813-4BB5-A4F3-DE1C2808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9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E8EDB-594C-424A-8800-C3A1F11B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325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10 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50318C-0E1A-43DA-809C-30F15D50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386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分析代理</a:t>
            </a:r>
          </a:p>
          <a:p xmlns:a="http://schemas.openxmlformats.org/drawingml/2006/main">
            <a:pPr algn="ctr">
              <a:def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診斷繼電器燒毀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8C12F-2704-49D5-82B1-E01FF6E4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99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065EC0-D6FD-43D1-BAB2-F5309038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325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15 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34F562-461A-496A-AFA2-B0BC6017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信任代理</a:t>
            </a:r>
          </a:p>
          <a:p xmlns:a="http://schemas.openxmlformats.org/drawingml/2006/main">
            <a:pPr algn="ctr">
              <a:def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產出證據與派工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FDC2FD-0BE3-484E-8F23-E6ADDC33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941068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172A2-4B4D-4F17-B2B1-7F5839AB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65893-07A4-4924-8BE2-E060078F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9DC16-4481-4384-9FA8-AF253E89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FE148-3183-48B1-8AC1-B9D48BE0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66406-4185-4AB4-9341-F496D45C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EEB7D-9FEB-4A0A-AD79-EDCD3ED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FE40A-E5EB-48E8-AB7E-DF3AEA5B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8D191-77C1-4426-B242-969639E1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32553-5D57-401F-A7BB-8866BED8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61D87-DE5B-447C-815A-98E0E829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2DD32-8DFB-4D3E-8535-8F857D69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F2393-1DCC-4674-8044-4965F5D0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E3D35-E3A9-47DC-828A-37AD43B1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F639E-C4F4-4AB9-B930-843868C8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319E3-8D6D-41D2-8670-D395BD78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ED751-F804-4C79-A351-F29B1269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39FD37-A9DF-400C-8913-DA4E3505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87DF60-F960-4642-89B3-D426B967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PERFORMANCE LEAP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ADF02-1973-46C8-95AA-B8103E55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3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22 倍應變速度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315A6-C76D-4FBE-9691-00B08685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60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45 分鐘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E9830-E91B-4AF5-A0BE-6FA07623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24150"/>
            <a:ext cx="76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D9B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450" b="1">
                <a:solidFill>
                  <a:srgbClr val="1D9BFF"/>
                </a:solidFill>
                <a:latin typeface="Microsoft JhengHei UI"/>
                <a:ea typeface="Microsoft JhengHei UI"/>
                <a:cs typeface="Microsoft JhengHei U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BD99D-6755-4D5C-9146-0C4E7ACF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241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D9B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350" b="1">
                <a:solidFill>
                  <a:srgbClr val="1D9BFF"/>
                </a:solidFill>
                <a:latin typeface="Microsoft JhengHei UI"/>
                <a:ea typeface="Microsoft JhengHei UI"/>
                <a:cs typeface="Microsoft JhengHei UI"/>
              </a:rPr>
              <a:t>2 分鐘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F8EC0-6A63-4874-90C7-827C1ED9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找問題、翻手冊、判定原因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CE50E-4A41-4316-B25B-C3F7A5A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60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65%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4181D3-D4B4-415C-946C-2CE7BE4F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48150"/>
            <a:ext cx="76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D9B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450" b="1">
                <a:solidFill>
                  <a:srgbClr val="1D9BFF"/>
                </a:solidFill>
                <a:latin typeface="Microsoft JhengHei UI"/>
                <a:ea typeface="Microsoft JhengHei UI"/>
                <a:cs typeface="Microsoft JhengHei U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0D0385-77E0-4080-8830-5D29CEA3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81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4ADE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350" b="1">
                <a:solidFill>
                  <a:srgbClr val="4ADE80"/>
                </a:solidFill>
                <a:latin typeface="Microsoft JhengHei UI"/>
                <a:ea typeface="Microsoft JhengHei UI"/>
                <a:cs typeface="Microsoft JhengHei UI"/>
              </a:rPr>
              <a:t>98%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A0A59A-7146-4A1A-89F1-D7255EB6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根因診斷準確率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C6DB2-2BD8-4654-AEA9-20F4CB1B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9120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75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同一套事件處理流程，從人工序列作業變成代理平行協作。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C0807A-B8DC-4F84-9BD1-971D1792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29842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A60B1-0371-4C83-BD00-AE8FDC77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9B2E3-0128-4ED9-BBFA-2C1F415A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EFCD1-4C61-4341-9D9F-98304B5D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B9502-0B01-4D37-8FA1-45239EF4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EC30B-0BDF-46F9-A404-6910E083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E9A16-114D-432E-941F-D48E3D27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15238-B87E-4D98-B016-86BB454D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F8214-F269-438C-8A9D-495BB22F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5B932-3AF7-4C55-9AC7-9BB2709F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17A30-A707-4A47-A194-7EE839D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A8523-0A39-441E-9FAE-608410C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4F833-C320-4372-8FD2-020F7FAE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4D28F-B3B7-43F6-A363-50AAA142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42483-82F1-459E-A94E-64524E7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8468D-1D48-48E4-9001-D166B355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F8B1C-A539-4E56-B5BD-C730801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C03FFC2-9E33-43C0-82B8-1CBD4B72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C610A7D-AA96-418E-A526-415BB107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AUTONOMY ROADMAP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A070D-AD7D-456D-9D36-3503137A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477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1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從監控，走向設備自癒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7354B-79F9-408A-A306-98A8BFE7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D2F10-A4F7-4C1A-A38E-5B0B5CE4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14288">
            <a:solidFill>
              <a:srgbClr val="2731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87769A-E7DE-4C37-95C3-1BC4B3AF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57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25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L1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87724-6030-450E-A9AE-A0CF3179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實時監控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F4B7E-C8DB-4EB0-87CA-7ABAE58D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14288">
            <a:solidFill>
              <a:srgbClr val="27313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8165E-5233-46F5-A3BA-9BB5EDC3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57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250" b="1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L2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3ED46-46E0-49D4-B16B-BFA08182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815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智慧根因診斷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1126B5-6533-43C7-8BB8-438684CA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B"/>
          </a:solidFill>
          <a:ln xmlns:a="http://schemas.openxmlformats.org/drawingml/2006/main" w="14288">
            <a:solidFill>
              <a:srgbClr val="1D9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E686FB-A991-4589-8617-C1872C0E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9B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250" b="1">
                <a:solidFill>
                  <a:srgbClr val="1D9BFF"/>
                </a:solidFill>
                <a:latin typeface="Microsoft JhengHei UI"/>
                <a:ea typeface="Microsoft JhengHei UI"/>
                <a:cs typeface="Microsoft JhengHei UI"/>
              </a:rPr>
              <a:t>L3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3BE316-3C42-465F-977A-C06AF32E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815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安全人機協作調參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4E170F-3738-417C-AE52-B7FE5050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B"/>
          </a:solidFill>
          <a:ln xmlns:a="http://schemas.openxmlformats.org/drawingml/2006/main" w="14288">
            <a:solidFill>
              <a:srgbClr val="1D9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14DF70-A359-4DFD-A614-CC931823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9B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250" b="1">
                <a:solidFill>
                  <a:srgbClr val="1D9BFF"/>
                </a:solidFill>
                <a:latin typeface="Microsoft JhengHei UI"/>
                <a:ea typeface="Microsoft JhengHei UI"/>
                <a:cs typeface="Microsoft JhengHei UI"/>
              </a:rPr>
              <a:t>L4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8BC22C-31BE-43BA-A83C-DF18B0E1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815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自主控制與設備自癒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DA118F-3DD4-4873-A853-FE9AE95E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617160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D8ABCE-6C41-4260-9ECC-3791A83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1C80D-0484-44E6-9ED0-D69548FC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B0E3B-DED6-4757-825C-1153C318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D6E6B-349F-46F0-9E9C-6EC1C649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831B4-01FF-4A95-9E0D-1BF1CAAD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4F387-BB46-4EEF-83D9-898D075F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E78A8-999F-4B19-8A31-D04130E7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A35B7-49D1-4DE7-96C9-A710094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D4E34-55AF-4348-A498-D5635C4C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4FD7B-82B4-431A-9561-3C191A6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2A261-01F8-48E2-B40C-B5589348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FF062-FA02-427B-9AF6-ED34934A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69206-DFB5-45E4-A70C-93B527CB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ABC9F-1CC1-476A-934C-87E36A9A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EA70B-0D4E-4C8D-AF01-0E3CD613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94CBA-15A6-45CA-BF88-28AB8D1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420C4-43DB-4EFF-A3BB-5069CD1B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4000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11430">
            <a:solidFill>
              <a:srgbClr val="233447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8FED0-AD24-4BE3-991B-6677222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57300"/>
            <a:ext cx="3619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4253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276E3-8B7E-4F80-B4F6-FA48502A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52725"/>
            <a:ext cx="320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0">
                <a:solidFill>
                  <a:srgbClr val="647080"/>
                </a:solidFill>
                <a:latin typeface="Microsoft JhengHei UI"/>
                <a:ea typeface="Microsoft JhengHei UI"/>
                <a:cs typeface="Microsoft JhengHei UI"/>
              </a:rPr>
              <a:t>這裡放：未來智慧工廠全景</a:t>
            </a:r>
          </a:p>
        </p:txBody>
      </p:sp>
      <p:sp>
        <p:nvSpPr>
          <p:cNvPr id="2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56EAAF4-7DAE-4766-9AC9-10142A09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AF8CA5-3AAD-43B2-A2EF-4E749A1E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THANK YOU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EDEC8-F425-4D1B-A597-D89823FC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715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405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翻轉邊緣自動化的未來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0C29C-EC40-470D-B7EF-C4D662BA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00" b="0">
                <a:solidFill>
                  <a:srgbClr val="99A4B2"/>
                </a:solidFill>
                <a:latin typeface="Microsoft JhengHei UI"/>
                <a:ea typeface="Microsoft JhengHei UI"/>
                <a:cs typeface="Microsoft JhengHei UI"/>
              </a:rPr>
              <a:t>共同構建台灣製造業的 AI 代理生態圈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E98360-909B-4338-A8A9-03E1AE6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100" b="1">
                <a:solidFill>
                  <a:srgbClr val="F5F7FA"/>
                </a:solidFill>
                <a:latin typeface="Microsoft JhengHei UI"/>
                <a:ea typeface="Microsoft JhengHei UI"/>
                <a:cs typeface="Microsoft JhengHei UI"/>
              </a:rPr>
              <a:t>謝謝大家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836A8-190D-4202-93A6-D437332F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66171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99686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2026-05-26T08:58:23.9320000Z</dcterms:created>
  <dcterms:modified xsi:type="dcterms:W3CDTF">2026-05-26T08:58:23.9320000Z</dcterms:modified>
</coreProperties>
</file>